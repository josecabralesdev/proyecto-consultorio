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030ECB-64A6-45FE-ABB4-52C3E9BCCADB}">
  <a:tblStyle styleId="{C8030ECB-64A6-45FE-ABB4-52C3E9BCCA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3c7f357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3c7f357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0.jp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317426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269926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Sistema informático para la gestión de pacientes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801367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Desarrollo de una plataforma web para la optimización de consultorios médicos familiares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53000" y="5178623"/>
            <a:ext cx="2286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José Antonio Cabrales Silvente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Universidad Máximo Gómez Báez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524500" y="857250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12001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Fundamentación y Contexto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063325"/>
            <a:ext cx="110490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Análisis de la problemática actual en la gestión de salud primaria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5098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gestión tradicional en consultorios médicos enfrenta desafíos críticos que comprometen la calidad asistencial: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00125" y="32718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Almacenamiento físico vulnerable y difícil de conservar.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37671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Búsqueda de información lenta y propensa a errores.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42624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Falta de estandarización en registros clínicos.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47577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Dificultad para generar estadísticas automatizadas.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099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05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005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Descripción del Problema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 bot icon vector. Isolated contour symbol illustration (Provided by Getty Images)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3849" r="3840" t="0"/>
          <a:stretch/>
        </p:blipFill>
        <p:spPr>
          <a:xfrm>
            <a:off x="482165" y="4623113"/>
            <a:ext cx="414326" cy="44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3171825"/>
            <a:ext cx="304487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Web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4314825"/>
            <a:ext cx="30448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Plataforma Centralizada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959399" y="2924175"/>
            <a:ext cx="63940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959399" y="3200400"/>
            <a:ext cx="608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Desarrollar un sistema web orientado a optimizar el proceso de registro, control y seguimiento de la información clínica en consultorios familiares.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497" y="43053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6795" y="43053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 la Investigación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4100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4100"/>
            <a:ext cx="3492549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94237" y="3476625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Métodos Teóricos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39909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Histórico-lógico, analítico-sintético y sistémico estructural funcional.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72537" y="3476625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Técnicas Empíricas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740324" y="39909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Observación del flujo de trabajo y entrevistas a profesionales de salud.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50836" y="3476625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Modelación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18624" y="39909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Representación abstracta mediante diagramas y modelos de datos normalizados.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62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7622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7622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Metodología Aplicada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810375" y="25098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React 18.2 + TailwindCSS (Interfaces modernas y responsivas).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10375" y="33099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Node.js + Express (API RESTful eficiente y asíncrona).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10375" y="41100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 de Datos: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PostgreSQL 15 (Robustez e integridad relacional).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810375" y="49101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Herramientas: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Vite, Axios, JWT y bcrypt para seguridad.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Ecosistema Tecnológico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9"/>
          <p:cNvGraphicFramePr/>
          <p:nvPr/>
        </p:nvGraphicFramePr>
        <p:xfrm>
          <a:off x="571500" y="2224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{C8030ECB-64A6-45FE-ABB4-52C3E9BCCADB}</a:tableStyleId>
              </a:tblPr>
              <a:tblGrid>
                <a:gridCol w="1569550"/>
                <a:gridCol w="5015500"/>
                <a:gridCol w="4463950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Funcionalidad (Médico)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Funcionalidad (Admin)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Pacientes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Registro, consulta y seguimiento clínico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Estadísticas generales del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Geografía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áreas específicas de salud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Provincias y Municipios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Grupos dispensariales y problemas clínicos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Policlínicos y Consultorios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Seguridad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Acceso por consultorio asignado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estructural de usuarios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9"/>
          <p:cNvSpPr/>
          <p:nvPr/>
        </p:nvSpPr>
        <p:spPr>
          <a:xfrm>
            <a:off x="571500" y="3552825"/>
            <a:ext cx="1569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141041" y="3552825"/>
            <a:ext cx="5015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156549" y="3552825"/>
            <a:ext cx="446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1500" y="4210050"/>
            <a:ext cx="1569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2141041" y="4210050"/>
            <a:ext cx="5015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156549" y="4210050"/>
            <a:ext cx="446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4867275"/>
            <a:ext cx="1569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141041" y="4867275"/>
            <a:ext cx="5015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156549" y="4867275"/>
            <a:ext cx="446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71500" y="5524500"/>
            <a:ext cx="1569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141041" y="5524500"/>
            <a:ext cx="5015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156549" y="5524500"/>
            <a:ext cx="446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Funcional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387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68500"/>
            <a:ext cx="5238750" cy="30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19684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sistema se fundamenta en patrones de diseño industriales para asegurar escalabilidad: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54197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Distribución de la lógica del sistema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054250"/>
            <a:ext cx="4667250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285875" y="3413075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Patrón MVC: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Separación de Modelos, Vistas y Controladores.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285875" y="4213175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Middleware: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Validación y autenticación centralizada.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285875" y="501327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Normalización 3FN: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Integridad referencial total.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y Diseño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76375"/>
            <a:ext cx="52387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90875"/>
            <a:ext cx="52387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905375"/>
            <a:ext cx="52387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181927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6629400" y="17240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Autenticación JWT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29400" y="20002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Tokens con expiración de 24 horas y transmisión segura en headers.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629400" y="34385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Encriptación bcrypt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29400" y="37147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Hash de contraseñas con factor de costo 10, invulnerable a ataques simples.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29400" y="51530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Aislamiento de Datos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29400" y="54292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Filtrado estricto por consultorio asignado (Multi-tenancy lógico).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Seguridad e Integridad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Resultados y Experiencia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71500" y="571500"/>
            <a:ext cx="76200" cy="1238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31765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obtuvo una aplicación web funcional con las siguientes ventajas competitivas: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000125" y="3938587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Respuesta rápida: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Consultas bajo los 2 segundos.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000125" y="4433887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responsivo: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Acceso desde tablets y móviles.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000125" y="4929187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Búsqueda avanzada: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Por CI, HC o Nombre.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766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19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672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Captura de pantalla de la interfaz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3" title="Captura de pantalla de 2025-12-27 12-57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925" y="1855562"/>
            <a:ext cx="10444151" cy="460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/>
          <p:nvPr/>
        </p:nvSpPr>
        <p:spPr>
          <a:xfrm>
            <a:off x="571500" y="377666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507968" y="310991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V1.0 Lanzada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1727745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4376737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básica, geografía y seguridad JWT.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3343888" y="310991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V2.0 Reportes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563665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3407419" y="4376737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Estadísticas avanzadas y exportación de datos.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179808" y="310991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Mobile App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7399585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6243339" y="4376737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 complementaria para consultas rápidas.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015728" y="310991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Auditoría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10235505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9079259" y="4376737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Seguimiento de cambios en registros sensibles.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Conclusiones y Futuro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/>
          <p:nvPr/>
        </p:nvSpPr>
        <p:spPr>
          <a:xfrm>
            <a:off x="571500" y="221753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0023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78708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2992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2992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777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777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5623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5623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6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236041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https://news.harvard.edu/wp-content/uploads/2025/03/Findings-AI-in-medicine-resize.png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26061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news.harvard.edu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17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31451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https://miro.medium.com/1*KOWZ33WvLY3crDWBSWIzLg.jpeg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33909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65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9299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https://www.securityindustry.org/wp-content/uploads/2022/04/integrating-technologies-security-privacy-887x488.jpg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41756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www.securityindustry.org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03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471472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https://static.vecteezy.com/system/resources/previews/069/855/424/large_2x/focused-doctor-in-white-coat-works-diligently-at-office-desk-using-computer-and-taking-notes-environment-is-modern-and-professional-reflecting-commitment-to-healthcare-free-photo.jpeg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51585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